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9144000"/>
  <p:notesSz cx="6858000" cy="9144000"/>
  <p:embeddedFontLst>
    <p:embeddedFont>
      <p:font typeface="Century Gothic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qkz5WgMUbADLXU/0rmRoDWP72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CenturyGothic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CenturyGothic-bold.fntdata"/><Relationship Id="rId6" Type="http://schemas.openxmlformats.org/officeDocument/2006/relationships/slide" Target="slides/slide2.xml"/><Relationship Id="rId18" Type="http://schemas.openxmlformats.org/officeDocument/2006/relationships/font" Target="fonts/CenturyGothic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70b7a7742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270b7a77424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0473066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60473066d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0473066d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g360473066d4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0473066d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60473066d4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0473066d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60473066d4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0473066d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60473066d4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047ae7a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6047ae7aa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047ae7aa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6047ae7aaf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047ae7aa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6047ae7aaf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6047ae7aa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6047ae7aaf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047ae7aaf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6047ae7aa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2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2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3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3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/>
        </p:nvSpPr>
        <p:spPr>
          <a:xfrm>
            <a:off x="5427787" y="6599239"/>
            <a:ext cx="3575537" cy="287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75"/>
              <a:buFont typeface="Trebuchet MS"/>
              <a:buNone/>
            </a:pPr>
            <a:r>
              <a:rPr b="0" i="0" lang="en-IN" sz="1100" u="none" cap="none" strike="noStrike">
                <a:solidFill>
                  <a:srgbClr val="A5A5A5"/>
                </a:solidFill>
                <a:latin typeface="Trebuchet MS"/>
                <a:ea typeface="Trebuchet MS"/>
                <a:cs typeface="Trebuchet MS"/>
                <a:sym typeface="Trebuchet MS"/>
              </a:rPr>
              <a:t>Birla Institute of Technology &amp; Science, Pilani</a:t>
            </a:r>
            <a:endParaRPr b="0" i="0" sz="1100" u="none" cap="none" strike="noStrike">
              <a:solidFill>
                <a:srgbClr val="A5A5A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Picture 7.png" id="7" name="Google Shape;7;p4"/>
          <p:cNvPicPr preferRelativeResize="0"/>
          <p:nvPr/>
        </p:nvPicPr>
        <p:blipFill rotWithShape="1">
          <a:blip r:embed="rId1">
            <a:alphaModFix/>
          </a:blip>
          <a:srcRect b="5333" l="1923" r="0" t="0"/>
          <a:stretch/>
        </p:blipFill>
        <p:spPr>
          <a:xfrm>
            <a:off x="6644060" y="0"/>
            <a:ext cx="2193925" cy="6921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oogle Shape;8;p4"/>
          <p:cNvGrpSpPr/>
          <p:nvPr/>
        </p:nvGrpSpPr>
        <p:grpSpPr>
          <a:xfrm flipH="1" rot="10800000">
            <a:off x="-8794" y="1249681"/>
            <a:ext cx="5363310" cy="45719"/>
            <a:chOff x="1905000" y="6553200"/>
            <a:chExt cx="7010399" cy="45718"/>
          </a:xfrm>
        </p:grpSpPr>
        <p:sp>
          <p:nvSpPr>
            <p:cNvPr id="9" name="Google Shape;9;p4"/>
            <p:cNvSpPr/>
            <p:nvPr/>
          </p:nvSpPr>
          <p:spPr>
            <a:xfrm>
              <a:off x="4267200" y="6553200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10;p4"/>
            <p:cNvSpPr/>
            <p:nvPr/>
          </p:nvSpPr>
          <p:spPr>
            <a:xfrm>
              <a:off x="1905000" y="6553200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4"/>
            <p:cNvSpPr/>
            <p:nvPr/>
          </p:nvSpPr>
          <p:spPr>
            <a:xfrm>
              <a:off x="6586538" y="6553200"/>
              <a:ext cx="2328861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" name="Google Shape;12;p4"/>
          <p:cNvGrpSpPr/>
          <p:nvPr/>
        </p:nvGrpSpPr>
        <p:grpSpPr>
          <a:xfrm flipH="1" rot="10800000">
            <a:off x="3780689" y="6527144"/>
            <a:ext cx="5363310" cy="45719"/>
            <a:chOff x="1905000" y="6553200"/>
            <a:chExt cx="7010399" cy="45718"/>
          </a:xfrm>
        </p:grpSpPr>
        <p:sp>
          <p:nvSpPr>
            <p:cNvPr id="13" name="Google Shape;13;p4"/>
            <p:cNvSpPr/>
            <p:nvPr/>
          </p:nvSpPr>
          <p:spPr>
            <a:xfrm>
              <a:off x="4267200" y="6553200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4"/>
            <p:cNvSpPr/>
            <p:nvPr/>
          </p:nvSpPr>
          <p:spPr>
            <a:xfrm>
              <a:off x="1905000" y="6553200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4"/>
            <p:cNvSpPr/>
            <p:nvPr/>
          </p:nvSpPr>
          <p:spPr>
            <a:xfrm>
              <a:off x="6586538" y="6553200"/>
              <a:ext cx="2328861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95566" y="1465815"/>
            <a:ext cx="1749669" cy="174966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-21975" y="3349000"/>
            <a:ext cx="91440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-IN" sz="21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Real-Time User Risk Profiling in Financial Applications Using Unsupervised Learning on Streaming Data</a:t>
            </a:r>
            <a:endParaRPr b="1" sz="21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sz="21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91" name="Google Shape;91;p1"/>
          <p:cNvCxnSpPr/>
          <p:nvPr/>
        </p:nvCxnSpPr>
        <p:spPr>
          <a:xfrm>
            <a:off x="1679331" y="4854522"/>
            <a:ext cx="5741377" cy="0"/>
          </a:xfrm>
          <a:prstGeom prst="straightConnector1">
            <a:avLst/>
          </a:prstGeom>
          <a:noFill/>
          <a:ln cap="flat" cmpd="sng" w="1270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" name="Google Shape;92;p1"/>
          <p:cNvSpPr txBox="1"/>
          <p:nvPr/>
        </p:nvSpPr>
        <p:spPr>
          <a:xfrm>
            <a:off x="1288073" y="4931316"/>
            <a:ext cx="656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>
                <a:solidFill>
                  <a:srgbClr val="A5A5A5"/>
                </a:solidFill>
                <a:latin typeface="Georgia"/>
                <a:ea typeface="Georgia"/>
                <a:cs typeface="Georgia"/>
                <a:sym typeface="Georgia"/>
              </a:rPr>
              <a:t>Presenter: Mukund Kumar, MTech (2023AA05458, AIML)</a:t>
            </a:r>
            <a:endParaRPr>
              <a:solidFill>
                <a:srgbClr val="A5A5A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>
                <a:solidFill>
                  <a:srgbClr val="A5A5A5"/>
                </a:solidFill>
                <a:latin typeface="Georgia"/>
                <a:ea typeface="Georgia"/>
                <a:cs typeface="Georgia"/>
                <a:sym typeface="Georgia"/>
              </a:rPr>
              <a:t>Supervisor: Ashish Verma, Member of Technical Staff - 1, PayPal</a:t>
            </a:r>
            <a:endParaRPr>
              <a:solidFill>
                <a:srgbClr val="A5A5A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49375" y="4129475"/>
            <a:ext cx="88947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09562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Century Gothic"/>
              <a:buChar char="-"/>
            </a:pPr>
            <a:r>
              <a:rPr b="1" lang="en-IN" sz="15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 Adaptive Framework for Risk Profiling in streaming Financial Data</a:t>
            </a:r>
            <a:endParaRPr b="1" sz="15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sz="21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70b7a77424_0_86"/>
          <p:cNvSpPr/>
          <p:nvPr/>
        </p:nvSpPr>
        <p:spPr>
          <a:xfrm>
            <a:off x="298937" y="408585"/>
            <a:ext cx="679800" cy="52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270b7a77424_0_86"/>
          <p:cNvSpPr txBox="1"/>
          <p:nvPr/>
        </p:nvSpPr>
        <p:spPr>
          <a:xfrm>
            <a:off x="852075" y="485375"/>
            <a:ext cx="7186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300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 Traditional Fraud Detection is Reactive, Not Proactive.</a:t>
            </a:r>
            <a:endParaRPr b="0" i="0" sz="1700" u="none" cap="none" strike="noStrike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0" name="Google Shape;100;g270b7a77424_0_86"/>
          <p:cNvSpPr txBox="1"/>
          <p:nvPr/>
        </p:nvSpPr>
        <p:spPr>
          <a:xfrm>
            <a:off x="298925" y="1893142"/>
            <a:ext cx="86076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</a:pPr>
            <a:r>
              <a:rPr b="1" lang="en-IN" sz="1800">
                <a:solidFill>
                  <a:srgbClr val="3F3F3F"/>
                </a:solidFill>
              </a:rPr>
              <a:t>Reliance on Static Data: </a:t>
            </a:r>
            <a:r>
              <a:rPr lang="en-IN" sz="1800">
                <a:solidFill>
                  <a:srgbClr val="3F3F3F"/>
                </a:solidFill>
              </a:rPr>
              <a:t>Traditional systems depend on rule-based engines and supervised models that require large, pre-labeled historical data</a:t>
            </a:r>
            <a:endParaRPr sz="1800">
              <a:solidFill>
                <a:srgbClr val="3F3F3F"/>
              </a:solidFill>
            </a:endParaRPr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</a:pPr>
            <a:r>
              <a:rPr b="1" lang="en-IN" sz="1800">
                <a:solidFill>
                  <a:srgbClr val="3F3F3F"/>
                </a:solidFill>
              </a:rPr>
              <a:t>Slow to Adapt:</a:t>
            </a:r>
            <a:r>
              <a:rPr lang="en-IN" sz="1800">
                <a:solidFill>
                  <a:srgbClr val="3F3F3F"/>
                </a:solidFill>
              </a:rPr>
              <a:t> They struggle to keep pace with new and evolving threats because their training data quickly becomes outdated.</a:t>
            </a:r>
            <a:endParaRPr sz="1800">
              <a:solidFill>
                <a:srgbClr val="3F3F3F"/>
              </a:solidFill>
            </a:endParaRPr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</a:pPr>
            <a:r>
              <a:rPr b="1" lang="en-IN" sz="1800">
                <a:solidFill>
                  <a:srgbClr val="3F3F3F"/>
                </a:solidFill>
              </a:rPr>
              <a:t>Lack of Personalization:</a:t>
            </a:r>
            <a:r>
              <a:rPr lang="en-IN" sz="1800">
                <a:solidFill>
                  <a:srgbClr val="3F3F3F"/>
                </a:solidFill>
              </a:rPr>
              <a:t> They often fail to understand an individual user’s normal behavior, leading to a poor customer experience from false positives and a failure to detect novel attacks.</a:t>
            </a:r>
            <a:endParaRPr sz="1800">
              <a:solidFill>
                <a:srgbClr val="3F3F3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0473066d4_0_0"/>
          <p:cNvSpPr/>
          <p:nvPr/>
        </p:nvSpPr>
        <p:spPr>
          <a:xfrm>
            <a:off x="298937" y="408585"/>
            <a:ext cx="679800" cy="52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60473066d4_0_0"/>
          <p:cNvSpPr txBox="1"/>
          <p:nvPr/>
        </p:nvSpPr>
        <p:spPr>
          <a:xfrm>
            <a:off x="955050" y="446975"/>
            <a:ext cx="7233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300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Shifting from Fraud Detection to Real-Time Risk Profiling</a:t>
            </a:r>
            <a:endParaRPr b="0" i="0" sz="1700" u="none" cap="none" strike="noStrike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7" name="Google Shape;107;g360473066d4_0_0"/>
          <p:cNvSpPr txBox="1"/>
          <p:nvPr/>
        </p:nvSpPr>
        <p:spPr>
          <a:xfrm>
            <a:off x="298925" y="1893149"/>
            <a:ext cx="8607600" cy="4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rgbClr val="3F3F3F"/>
                </a:solidFill>
              </a:rPr>
              <a:t>My Approach: </a:t>
            </a:r>
            <a:r>
              <a:rPr lang="en-IN" sz="1800">
                <a:solidFill>
                  <a:srgbClr val="3F3F3F"/>
                </a:solidFill>
              </a:rPr>
              <a:t>I have designed, implemented and validated an end-to-end system that:</a:t>
            </a:r>
            <a:endParaRPr sz="1800">
              <a:solidFill>
                <a:srgbClr val="3F3F3F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</a:pPr>
            <a:r>
              <a:rPr b="1" lang="en-IN" sz="1800">
                <a:solidFill>
                  <a:srgbClr val="3F3F3F"/>
                </a:solidFill>
              </a:rPr>
              <a:t>Learns Individually:</a:t>
            </a:r>
            <a:r>
              <a:rPr lang="en-IN" sz="1800">
                <a:solidFill>
                  <a:srgbClr val="3F3F3F"/>
                </a:solidFill>
              </a:rPr>
              <a:t> It learns each user’s unique behavior using an unsupervised autoencoder, without needing pre-labeled data.</a:t>
            </a:r>
            <a:endParaRPr sz="1800">
              <a:solidFill>
                <a:srgbClr val="3F3F3F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</a:pPr>
            <a:r>
              <a:rPr b="1" lang="en-IN" sz="1800">
                <a:solidFill>
                  <a:srgbClr val="3F3F3F"/>
                </a:solidFill>
              </a:rPr>
              <a:t>Adapts in Real-Time:</a:t>
            </a:r>
            <a:r>
              <a:rPr lang="en-IN" sz="1800">
                <a:solidFill>
                  <a:srgbClr val="3F3F3F"/>
                </a:solidFill>
              </a:rPr>
              <a:t> The system intelligently adapts to legitimate changes in a user’s behavior using the ADWIN algorithm to handle concept drift.</a:t>
            </a:r>
            <a:endParaRPr sz="1800">
              <a:solidFill>
                <a:srgbClr val="3F3F3F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</a:pPr>
            <a:r>
              <a:rPr b="1" lang="en-IN" sz="1800">
                <a:solidFill>
                  <a:srgbClr val="3F3F3F"/>
                </a:solidFill>
              </a:rPr>
              <a:t>Provides Dynamic Risk Scores:</a:t>
            </a:r>
            <a:r>
              <a:rPr lang="en-IN" sz="1800">
                <a:solidFill>
                  <a:srgbClr val="3F3F3F"/>
                </a:solidFill>
              </a:rPr>
              <a:t> It calculates a personalized, stateful Z-score for every transaction, offering a nuanced measure of risk.</a:t>
            </a:r>
            <a:endParaRPr sz="1800">
              <a:solidFill>
                <a:srgbClr val="3F3F3F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</a:pPr>
            <a:r>
              <a:rPr b="1" lang="en-IN" sz="1800">
                <a:solidFill>
                  <a:srgbClr val="3F3F3F"/>
                </a:solidFill>
              </a:rPr>
              <a:t>Ensure Transparency:</a:t>
            </a:r>
            <a:r>
              <a:rPr lang="en-IN" sz="1800">
                <a:solidFill>
                  <a:srgbClr val="3F3F3F"/>
                </a:solidFill>
              </a:rPr>
              <a:t> It generates clear, feature-based explanations for its risk assessments using SHAP to build trust and meet regulatory requirements.</a:t>
            </a:r>
            <a:endParaRPr sz="1800">
              <a:solidFill>
                <a:srgbClr val="3F3F3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60473066d4_0_12"/>
          <p:cNvSpPr/>
          <p:nvPr/>
        </p:nvSpPr>
        <p:spPr>
          <a:xfrm>
            <a:off x="298937" y="408585"/>
            <a:ext cx="679800" cy="52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60473066d4_0_12"/>
          <p:cNvSpPr txBox="1"/>
          <p:nvPr/>
        </p:nvSpPr>
        <p:spPr>
          <a:xfrm>
            <a:off x="978725" y="446975"/>
            <a:ext cx="6497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300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A Scalable, Low-Latency Streaming Architecture</a:t>
            </a:r>
            <a:endParaRPr b="0" i="0" sz="1700" u="none" cap="none" strike="noStrike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4" name="Google Shape;114;g360473066d4_0_12"/>
          <p:cNvSpPr txBox="1"/>
          <p:nvPr/>
        </p:nvSpPr>
        <p:spPr>
          <a:xfrm>
            <a:off x="298925" y="1597175"/>
            <a:ext cx="5228400" cy="44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</a:pPr>
            <a:r>
              <a:rPr b="1" lang="en-IN" sz="1800">
                <a:solidFill>
                  <a:srgbClr val="3F3F3F"/>
                </a:solidFill>
              </a:rPr>
              <a:t>Kafka: </a:t>
            </a:r>
            <a:r>
              <a:rPr lang="en-IN" sz="1800">
                <a:solidFill>
                  <a:srgbClr val="3F3F3F"/>
                </a:solidFill>
              </a:rPr>
              <a:t>The central </a:t>
            </a:r>
            <a:r>
              <a:rPr lang="en-IN" sz="1800">
                <a:solidFill>
                  <a:srgbClr val="3F3F3F"/>
                </a:solidFill>
              </a:rPr>
              <a:t>messaging</a:t>
            </a:r>
            <a:r>
              <a:rPr lang="en-IN" sz="1800">
                <a:solidFill>
                  <a:srgbClr val="3F3F3F"/>
                </a:solidFill>
              </a:rPr>
              <a:t> backbone that ingests high-throughput transaction data.</a:t>
            </a:r>
            <a:endParaRPr sz="1800">
              <a:solidFill>
                <a:srgbClr val="3F3F3F"/>
              </a:solidFill>
            </a:endParaRPr>
          </a:p>
          <a:p>
            <a:pPr indent="-342900" lvl="0" marL="457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</a:pPr>
            <a:r>
              <a:rPr b="1" lang="en-IN" sz="1800">
                <a:solidFill>
                  <a:srgbClr val="3F3F3F"/>
                </a:solidFill>
              </a:rPr>
              <a:t>Spark Structured Streaming:</a:t>
            </a:r>
            <a:r>
              <a:rPr lang="en-IN" sz="1800">
                <a:solidFill>
                  <a:srgbClr val="3F3F3F"/>
                </a:solidFill>
              </a:rPr>
              <a:t> The powerful engine for stateful, real-time data processing and model application</a:t>
            </a:r>
            <a:endParaRPr sz="1800">
              <a:solidFill>
                <a:srgbClr val="3F3F3F"/>
              </a:solidFill>
            </a:endParaRPr>
          </a:p>
          <a:p>
            <a:pPr indent="-342900" lvl="0" marL="457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</a:pPr>
            <a:r>
              <a:rPr b="1" lang="en-IN" sz="1800">
                <a:solidFill>
                  <a:srgbClr val="3F3F3F"/>
                </a:solidFill>
              </a:rPr>
              <a:t>PyTorch &amp; SHAP: </a:t>
            </a:r>
            <a:r>
              <a:rPr lang="en-IN" sz="1800">
                <a:solidFill>
                  <a:srgbClr val="3F3F3F"/>
                </a:solidFill>
              </a:rPr>
              <a:t>The “brains” for the system, performing the unsupervised anomaly detection and generating explanations.</a:t>
            </a:r>
            <a:endParaRPr sz="1800">
              <a:solidFill>
                <a:srgbClr val="3F3F3F"/>
              </a:solidFill>
            </a:endParaRPr>
          </a:p>
          <a:p>
            <a:pPr indent="-342900" lvl="0" marL="4572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Char char="●"/>
            </a:pPr>
            <a:r>
              <a:rPr b="1" lang="en-IN" sz="1800">
                <a:solidFill>
                  <a:srgbClr val="3F3F3F"/>
                </a:solidFill>
              </a:rPr>
              <a:t>Streamlit Dashboard:</a:t>
            </a:r>
            <a:r>
              <a:rPr lang="en-IN" sz="1800">
                <a:solidFill>
                  <a:srgbClr val="3F3F3F"/>
                </a:solidFill>
              </a:rPr>
              <a:t> The real-time monitoring interface for visualizing performance, alerts, and explanations.</a:t>
            </a:r>
            <a:endParaRPr sz="1800">
              <a:solidFill>
                <a:srgbClr val="3F3F3F"/>
              </a:solidFill>
            </a:endParaRPr>
          </a:p>
        </p:txBody>
      </p:sp>
      <p:pic>
        <p:nvPicPr>
          <p:cNvPr id="115" name="Google Shape;115;g360473066d4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3750" y="1597175"/>
            <a:ext cx="3413600" cy="42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0473066d4_0_18"/>
          <p:cNvSpPr/>
          <p:nvPr/>
        </p:nvSpPr>
        <p:spPr>
          <a:xfrm>
            <a:off x="298937" y="408585"/>
            <a:ext cx="679800" cy="52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60473066d4_0_18"/>
          <p:cNvSpPr txBox="1"/>
          <p:nvPr/>
        </p:nvSpPr>
        <p:spPr>
          <a:xfrm>
            <a:off x="978721" y="446987"/>
            <a:ext cx="6497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300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From Raw Data to a Personalized Risk Score</a:t>
            </a:r>
            <a:endParaRPr b="0" i="0" sz="1700" u="none" cap="none" strike="noStrike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2" name="Google Shape;122;g360473066d4_0_18"/>
          <p:cNvSpPr txBox="1"/>
          <p:nvPr/>
        </p:nvSpPr>
        <p:spPr>
          <a:xfrm>
            <a:off x="214000" y="1457875"/>
            <a:ext cx="5188500" cy="5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700"/>
              <a:buChar char="●"/>
            </a:pPr>
            <a:r>
              <a:rPr lang="en-IN" sz="1700">
                <a:solidFill>
                  <a:srgbClr val="3F3F3F"/>
                </a:solidFill>
              </a:rPr>
              <a:t>An </a:t>
            </a:r>
            <a:r>
              <a:rPr lang="en-IN" sz="1700">
                <a:solidFill>
                  <a:srgbClr val="3F3F3F"/>
                </a:solidFill>
              </a:rPr>
              <a:t>incoming</a:t>
            </a:r>
            <a:r>
              <a:rPr lang="en-IN" sz="1700">
                <a:solidFill>
                  <a:srgbClr val="3F3F3F"/>
                </a:solidFill>
              </a:rPr>
              <a:t> transaction is processed by the </a:t>
            </a:r>
            <a:r>
              <a:rPr b="1" lang="en-IN" sz="1700">
                <a:solidFill>
                  <a:srgbClr val="3F3F3F"/>
                </a:solidFill>
              </a:rPr>
              <a:t>PyTorch Autoencoder</a:t>
            </a:r>
            <a:r>
              <a:rPr lang="en-IN" sz="1700">
                <a:solidFill>
                  <a:srgbClr val="3F3F3F"/>
                </a:solidFill>
              </a:rPr>
              <a:t>, which calculates the </a:t>
            </a:r>
            <a:r>
              <a:rPr i="1" lang="en-IN" sz="1700">
                <a:solidFill>
                  <a:srgbClr val="3F3F3F"/>
                </a:solidFill>
              </a:rPr>
              <a:t>reconstruction_error</a:t>
            </a:r>
            <a:r>
              <a:rPr lang="en-IN" sz="1700">
                <a:solidFill>
                  <a:srgbClr val="3F3F3F"/>
                </a:solidFill>
              </a:rPr>
              <a:t>. A high error </a:t>
            </a:r>
            <a:r>
              <a:rPr lang="en-IN" sz="1700">
                <a:solidFill>
                  <a:srgbClr val="3F3F3F"/>
                </a:solidFill>
              </a:rPr>
              <a:t>signals an unusual deviation from the user’s normal pattern..</a:t>
            </a:r>
            <a:endParaRPr sz="1700">
              <a:solidFill>
                <a:srgbClr val="3F3F3F"/>
              </a:solidFill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700"/>
              <a:buChar char="●"/>
            </a:pPr>
            <a:r>
              <a:rPr lang="en-IN" sz="1700">
                <a:solidFill>
                  <a:srgbClr val="3F3F3F"/>
                </a:solidFill>
              </a:rPr>
              <a:t>The error is then normalized into a personalized, </a:t>
            </a:r>
            <a:r>
              <a:rPr b="1" lang="en-IN" sz="1700">
                <a:solidFill>
                  <a:srgbClr val="3F3F3F"/>
                </a:solidFill>
              </a:rPr>
              <a:t>Stateful Z-score</a:t>
            </a:r>
            <a:r>
              <a:rPr lang="en-IN" sz="1700">
                <a:solidFill>
                  <a:srgbClr val="3F3F3F"/>
                </a:solidFill>
              </a:rPr>
              <a:t>, which compares the current transaction’s anomaly level to the user’s recent history.</a:t>
            </a:r>
            <a:endParaRPr sz="1700">
              <a:solidFill>
                <a:srgbClr val="3F3F3F"/>
              </a:solidFill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700"/>
              <a:buChar char="●"/>
            </a:pPr>
            <a:r>
              <a:rPr lang="en-IN" sz="1700">
                <a:solidFill>
                  <a:srgbClr val="3F3F3F"/>
                </a:solidFill>
              </a:rPr>
              <a:t>If the Z-score exceed teh defined </a:t>
            </a:r>
            <a:r>
              <a:rPr b="1" lang="en-IN" sz="1700">
                <a:solidFill>
                  <a:srgbClr val="3F3F3F"/>
                </a:solidFill>
              </a:rPr>
              <a:t>ALERT_THRESHOLD</a:t>
            </a:r>
            <a:r>
              <a:rPr lang="en-IN" sz="1700">
                <a:solidFill>
                  <a:srgbClr val="3F3F3F"/>
                </a:solidFill>
              </a:rPr>
              <a:t> of 2.5, an alert is generated and sent to the monitoring dashboard.</a:t>
            </a:r>
            <a:endParaRPr sz="1700">
              <a:solidFill>
                <a:srgbClr val="3F3F3F"/>
              </a:solidFill>
            </a:endParaRPr>
          </a:p>
        </p:txBody>
      </p:sp>
      <p:pic>
        <p:nvPicPr>
          <p:cNvPr id="123" name="Google Shape;123;g360473066d4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2525" y="849237"/>
            <a:ext cx="3741481" cy="5659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0473066d4_0_24"/>
          <p:cNvSpPr/>
          <p:nvPr/>
        </p:nvSpPr>
        <p:spPr>
          <a:xfrm>
            <a:off x="298937" y="408585"/>
            <a:ext cx="679800" cy="52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60473066d4_0_24"/>
          <p:cNvSpPr txBox="1"/>
          <p:nvPr/>
        </p:nvSpPr>
        <p:spPr>
          <a:xfrm>
            <a:off x="978721" y="446987"/>
            <a:ext cx="6497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300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Staying Relevant: How the System Adapts to Change</a:t>
            </a:r>
            <a:endParaRPr b="0" i="0" sz="1700" u="none" cap="none" strike="noStrike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0" name="Google Shape;130;g360473066d4_0_24"/>
          <p:cNvSpPr txBox="1"/>
          <p:nvPr/>
        </p:nvSpPr>
        <p:spPr>
          <a:xfrm>
            <a:off x="214000" y="1457875"/>
            <a:ext cx="5447100" cy="46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700"/>
              <a:buChar char="●"/>
            </a:pPr>
            <a:r>
              <a:rPr b="1" lang="en-IN" sz="1700">
                <a:solidFill>
                  <a:srgbClr val="3F3F3F"/>
                </a:solidFill>
              </a:rPr>
              <a:t>The Challenge:</a:t>
            </a:r>
            <a:r>
              <a:rPr lang="en-IN" sz="1700">
                <a:solidFill>
                  <a:srgbClr val="3F3F3F"/>
                </a:solidFill>
              </a:rPr>
              <a:t> A user’s legitimate behavior can change over time. A static model would incorrectly flag these new, normal patterns as high-risk.</a:t>
            </a:r>
            <a:endParaRPr sz="1700">
              <a:solidFill>
                <a:srgbClr val="3F3F3F"/>
              </a:solidFill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700"/>
              <a:buChar char="●"/>
            </a:pPr>
            <a:r>
              <a:rPr b="1" lang="en-IN" sz="1700">
                <a:solidFill>
                  <a:srgbClr val="3F3F3F"/>
                </a:solidFill>
              </a:rPr>
              <a:t>The Solution: ADWIN (ADaptive WINdowing)</a:t>
            </a:r>
            <a:endParaRPr b="1" sz="1700">
              <a:solidFill>
                <a:srgbClr val="3F3F3F"/>
              </a:solidFill>
            </a:endParaRPr>
          </a:p>
          <a:p>
            <a:pPr indent="-3365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700"/>
              <a:buChar char="○"/>
            </a:pPr>
            <a:r>
              <a:rPr lang="en-IN" sz="1700">
                <a:solidFill>
                  <a:srgbClr val="3F3F3F"/>
                </a:solidFill>
              </a:rPr>
              <a:t>The system continuously monitors each user’s stream of reconstruction errors.</a:t>
            </a:r>
            <a:endParaRPr sz="1700">
              <a:solidFill>
                <a:srgbClr val="3F3F3F"/>
              </a:solidFill>
            </a:endParaRPr>
          </a:p>
          <a:p>
            <a:pPr indent="-3365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700"/>
              <a:buChar char="○"/>
            </a:pPr>
            <a:r>
              <a:rPr lang="en-IN" sz="1700">
                <a:solidFill>
                  <a:srgbClr val="3F3F3F"/>
                </a:solidFill>
              </a:rPr>
              <a:t>When ADWIN detects a statistically significant change, it flags a drift event.</a:t>
            </a:r>
            <a:endParaRPr sz="1700">
              <a:solidFill>
                <a:srgbClr val="3F3F3F"/>
              </a:solidFill>
            </a:endParaRPr>
          </a:p>
          <a:p>
            <a:pPr indent="-3365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700"/>
              <a:buChar char="○"/>
            </a:pPr>
            <a:r>
              <a:rPr lang="en-IN" sz="1700">
                <a:solidFill>
                  <a:srgbClr val="3F3F3F"/>
                </a:solidFill>
              </a:rPr>
              <a:t>This automatically </a:t>
            </a:r>
            <a:r>
              <a:rPr b="1" lang="en-IN" sz="1700">
                <a:solidFill>
                  <a:srgbClr val="3F3F3F"/>
                </a:solidFill>
              </a:rPr>
              <a:t>resets the user’s historical profile, </a:t>
            </a:r>
            <a:r>
              <a:rPr lang="en-IN" sz="1700">
                <a:solidFill>
                  <a:srgbClr val="3F3F3F"/>
                </a:solidFill>
              </a:rPr>
              <a:t>allowing the model to re-learn the “new normal” and preventing model decay.</a:t>
            </a:r>
            <a:endParaRPr sz="1700">
              <a:solidFill>
                <a:srgbClr val="3F3F3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0473066d4_0_30"/>
          <p:cNvSpPr/>
          <p:nvPr/>
        </p:nvSpPr>
        <p:spPr>
          <a:xfrm>
            <a:off x="298937" y="408585"/>
            <a:ext cx="679800" cy="52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60473066d4_0_30"/>
          <p:cNvSpPr txBox="1"/>
          <p:nvPr/>
        </p:nvSpPr>
        <p:spPr>
          <a:xfrm>
            <a:off x="978721" y="446987"/>
            <a:ext cx="6497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300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Answering "Why?" with SHAP-based Explanations</a:t>
            </a:r>
            <a:endParaRPr b="0" i="0" sz="1700" u="none" cap="none" strike="noStrike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7" name="Google Shape;137;g360473066d4_0_30"/>
          <p:cNvSpPr txBox="1"/>
          <p:nvPr/>
        </p:nvSpPr>
        <p:spPr>
          <a:xfrm>
            <a:off x="41025" y="1292750"/>
            <a:ext cx="51168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●"/>
            </a:pPr>
            <a:r>
              <a:rPr b="1" lang="en-IN" sz="2000">
                <a:solidFill>
                  <a:srgbClr val="3F3F3F"/>
                </a:solidFill>
              </a:rPr>
              <a:t>Why it matters:</a:t>
            </a:r>
            <a:endParaRPr b="1" sz="2000">
              <a:solidFill>
                <a:srgbClr val="3F3F3F"/>
              </a:solidFill>
            </a:endParaRPr>
          </a:p>
          <a:p>
            <a:pPr indent="-3556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○"/>
            </a:pPr>
            <a:r>
              <a:rPr b="1" lang="en-IN" sz="2000">
                <a:solidFill>
                  <a:srgbClr val="3F3F3F"/>
                </a:solidFill>
              </a:rPr>
              <a:t>Regulatory Compliance:</a:t>
            </a:r>
            <a:r>
              <a:rPr lang="en-IN" sz="2000">
                <a:solidFill>
                  <a:srgbClr val="3F3F3F"/>
                </a:solidFill>
              </a:rPr>
              <a:t> Fulfills the “right to explanation” required by regulations like GDPR.</a:t>
            </a:r>
            <a:endParaRPr sz="2000">
              <a:solidFill>
                <a:srgbClr val="3F3F3F"/>
              </a:solidFill>
            </a:endParaRPr>
          </a:p>
          <a:p>
            <a:pPr indent="-3556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○"/>
            </a:pPr>
            <a:r>
              <a:rPr b="1" lang="en-IN" sz="2000">
                <a:solidFill>
                  <a:srgbClr val="3F3F3F"/>
                </a:solidFill>
              </a:rPr>
              <a:t>Operational Trust:</a:t>
            </a:r>
            <a:r>
              <a:rPr lang="en-IN" sz="2000">
                <a:solidFill>
                  <a:srgbClr val="3F3F3F"/>
                </a:solidFill>
              </a:rPr>
              <a:t> Empowers human analysts to quickly understand and verify automated decisions.</a:t>
            </a:r>
            <a:endParaRPr sz="2000">
              <a:solidFill>
                <a:srgbClr val="3F3F3F"/>
              </a:solidFill>
            </a:endParaRPr>
          </a:p>
          <a:p>
            <a:pPr indent="-355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●"/>
            </a:pPr>
            <a:r>
              <a:rPr b="1" lang="en-IN" sz="2000">
                <a:solidFill>
                  <a:srgbClr val="3F3F3F"/>
                </a:solidFill>
              </a:rPr>
              <a:t>How it Works (SHAP):</a:t>
            </a:r>
            <a:endParaRPr b="1" sz="2000">
              <a:solidFill>
                <a:srgbClr val="3F3F3F"/>
              </a:solidFill>
            </a:endParaRPr>
          </a:p>
          <a:p>
            <a:pPr indent="-3556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○"/>
            </a:pPr>
            <a:r>
              <a:rPr lang="en-IN" sz="2000">
                <a:solidFill>
                  <a:srgbClr val="3F3F3F"/>
                </a:solidFill>
              </a:rPr>
              <a:t>For every high-risk alert, the system calculates the exact </a:t>
            </a:r>
            <a:r>
              <a:rPr lang="en-IN" sz="2000">
                <a:solidFill>
                  <a:srgbClr val="3F3F3F"/>
                </a:solidFill>
              </a:rPr>
              <a:t>contribution</a:t>
            </a:r>
            <a:r>
              <a:rPr lang="en-IN" sz="2000">
                <a:solidFill>
                  <a:srgbClr val="3F3F3F"/>
                </a:solidFill>
              </a:rPr>
              <a:t> of each transaction feature (like </a:t>
            </a:r>
            <a:r>
              <a:rPr i="1" lang="en-IN" sz="2000">
                <a:solidFill>
                  <a:srgbClr val="3F3F3F"/>
                </a:solidFill>
              </a:rPr>
              <a:t>amount</a:t>
            </a:r>
            <a:r>
              <a:rPr lang="en-IN" sz="2000">
                <a:solidFill>
                  <a:srgbClr val="3F3F3F"/>
                </a:solidFill>
              </a:rPr>
              <a:t> or </a:t>
            </a:r>
            <a:r>
              <a:rPr i="1" lang="en-IN" sz="2000">
                <a:solidFill>
                  <a:srgbClr val="3F3F3F"/>
                </a:solidFill>
              </a:rPr>
              <a:t>oldbalanceOrg</a:t>
            </a:r>
            <a:r>
              <a:rPr lang="en-IN" sz="2000">
                <a:solidFill>
                  <a:srgbClr val="3F3F3F"/>
                </a:solidFill>
              </a:rPr>
              <a:t>) to the final risk score.</a:t>
            </a:r>
            <a:endParaRPr sz="2000">
              <a:solidFill>
                <a:srgbClr val="3F3F3F"/>
              </a:solidFill>
            </a:endParaRPr>
          </a:p>
          <a:p>
            <a:pPr indent="-3556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○"/>
            </a:pPr>
            <a:r>
              <a:rPr lang="en-IN" sz="2000">
                <a:solidFill>
                  <a:srgbClr val="3F3F3F"/>
                </a:solidFill>
              </a:rPr>
              <a:t>This provides a clear, </a:t>
            </a:r>
            <a:r>
              <a:rPr lang="en-IN" sz="2000">
                <a:solidFill>
                  <a:srgbClr val="3F3F3F"/>
                </a:solidFill>
              </a:rPr>
              <a:t>intuitive</a:t>
            </a:r>
            <a:r>
              <a:rPr lang="en-IN" sz="2000">
                <a:solidFill>
                  <a:srgbClr val="3F3F3F"/>
                </a:solidFill>
              </a:rPr>
              <a:t> justification for why a specific transaction was flagged.</a:t>
            </a:r>
            <a:endParaRPr sz="2000">
              <a:solidFill>
                <a:srgbClr val="3F3F3F"/>
              </a:solidFill>
            </a:endParaRPr>
          </a:p>
        </p:txBody>
      </p:sp>
      <p:pic>
        <p:nvPicPr>
          <p:cNvPr id="138" name="Google Shape;138;g360473066d4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7750" y="1250125"/>
            <a:ext cx="3862451" cy="522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047ae7aaf_0_0"/>
          <p:cNvSpPr/>
          <p:nvPr/>
        </p:nvSpPr>
        <p:spPr>
          <a:xfrm>
            <a:off x="298937" y="408585"/>
            <a:ext cx="679800" cy="52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6047ae7aaf_0_0"/>
          <p:cNvSpPr txBox="1"/>
          <p:nvPr/>
        </p:nvSpPr>
        <p:spPr>
          <a:xfrm>
            <a:off x="978725" y="446975"/>
            <a:ext cx="7245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300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Stress-Tested and Validated for Real-World Throughput</a:t>
            </a:r>
            <a:endParaRPr b="0" i="0" sz="1700" u="none" cap="none" strike="noStrike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5" name="Google Shape;145;g36047ae7aaf_0_0"/>
          <p:cNvSpPr txBox="1"/>
          <p:nvPr/>
        </p:nvSpPr>
        <p:spPr>
          <a:xfrm>
            <a:off x="214000" y="1457875"/>
            <a:ext cx="46434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●"/>
            </a:pPr>
            <a:r>
              <a:rPr b="1" lang="en-IN" sz="2000">
                <a:solidFill>
                  <a:srgbClr val="3F3F3F"/>
                </a:solidFill>
              </a:rPr>
              <a:t>The Experiment:</a:t>
            </a:r>
            <a:r>
              <a:rPr lang="en-IN" sz="2000">
                <a:solidFill>
                  <a:srgbClr val="3F3F3F"/>
                </a:solidFill>
              </a:rPr>
              <a:t> I removed all artificial delays from the data producer to simulate a high-volume transaction flood and identify the system’s operational limits</a:t>
            </a:r>
            <a:endParaRPr sz="2000">
              <a:solidFill>
                <a:srgbClr val="3F3F3F"/>
              </a:solidFill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●"/>
            </a:pPr>
            <a:r>
              <a:rPr b="1" lang="en-IN" sz="2000">
                <a:solidFill>
                  <a:srgbClr val="3F3F3F"/>
                </a:solidFill>
              </a:rPr>
              <a:t>The Outcome:</a:t>
            </a:r>
            <a:endParaRPr b="1" sz="2000">
              <a:solidFill>
                <a:srgbClr val="3F3F3F"/>
              </a:solidFill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○"/>
            </a:pPr>
            <a:r>
              <a:rPr lang="en-IN" sz="2000">
                <a:solidFill>
                  <a:srgbClr val="3F3F3F"/>
                </a:solidFill>
              </a:rPr>
              <a:t>The system maintained a stable P95 latency </a:t>
            </a:r>
            <a:r>
              <a:rPr b="1" lang="en-IN" sz="2000">
                <a:solidFill>
                  <a:srgbClr val="3F3F3F"/>
                </a:solidFill>
              </a:rPr>
              <a:t>under 200ms </a:t>
            </a:r>
            <a:r>
              <a:rPr lang="en-IN" sz="2000">
                <a:solidFill>
                  <a:srgbClr val="3F3F3F"/>
                </a:solidFill>
              </a:rPr>
              <a:t>while processing up to approximately </a:t>
            </a:r>
            <a:r>
              <a:rPr b="1" lang="en-IN" sz="2000">
                <a:solidFill>
                  <a:srgbClr val="3F3F3F"/>
                </a:solidFill>
              </a:rPr>
              <a:t>1,200 transactions per second.</a:t>
            </a:r>
            <a:endParaRPr sz="2000">
              <a:solidFill>
                <a:srgbClr val="3F3F3F"/>
              </a:solidFill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Char char="○"/>
            </a:pPr>
            <a:r>
              <a:rPr lang="en-IN" sz="2000">
                <a:solidFill>
                  <a:srgbClr val="3F3F3F"/>
                </a:solidFill>
              </a:rPr>
              <a:t>This result confirms the architecture is robust and scalable for real-time financial monitoring applications.</a:t>
            </a:r>
            <a:endParaRPr sz="2000">
              <a:solidFill>
                <a:srgbClr val="3F3F3F"/>
              </a:solidFill>
            </a:endParaRPr>
          </a:p>
        </p:txBody>
      </p:sp>
      <p:pic>
        <p:nvPicPr>
          <p:cNvPr id="146" name="Google Shape;146;g36047ae7aa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7375" y="1457875"/>
            <a:ext cx="4286625" cy="492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047ae7aaf_0_6"/>
          <p:cNvSpPr/>
          <p:nvPr/>
        </p:nvSpPr>
        <p:spPr>
          <a:xfrm>
            <a:off x="298937" y="408585"/>
            <a:ext cx="679800" cy="52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6047ae7aaf_0_6"/>
          <p:cNvSpPr txBox="1"/>
          <p:nvPr/>
        </p:nvSpPr>
        <p:spPr>
          <a:xfrm>
            <a:off x="978726" y="446975"/>
            <a:ext cx="7432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300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The System in Action: High Accuracy and Clear Insights</a:t>
            </a:r>
            <a:endParaRPr b="0" i="0" sz="1700" u="none" cap="none" strike="noStrike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3" name="Google Shape;153;g36047ae7aaf_0_6"/>
          <p:cNvSpPr txBox="1"/>
          <p:nvPr/>
        </p:nvSpPr>
        <p:spPr>
          <a:xfrm>
            <a:off x="214000" y="1457875"/>
            <a:ext cx="5297700" cy="46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700"/>
              <a:buChar char="●"/>
            </a:pPr>
            <a:r>
              <a:rPr b="1" lang="en-IN" sz="1700">
                <a:solidFill>
                  <a:srgbClr val="3F3F3F"/>
                </a:solidFill>
              </a:rPr>
              <a:t>High-Risk Detection (True Positive):</a:t>
            </a:r>
            <a:r>
              <a:rPr lang="en-IN" sz="1700">
                <a:solidFill>
                  <a:srgbClr val="3F3F3F"/>
                </a:solidFill>
              </a:rPr>
              <a:t> The system correctly assigned a high Z-score of 86.65 to a known fraudulent transaction, with SHAP identifying </a:t>
            </a:r>
            <a:r>
              <a:rPr i="1" lang="en-IN" sz="1700">
                <a:solidFill>
                  <a:srgbClr val="3F3F3F"/>
                </a:solidFill>
              </a:rPr>
              <a:t>amount</a:t>
            </a:r>
            <a:r>
              <a:rPr lang="en-IN" sz="1700">
                <a:solidFill>
                  <a:srgbClr val="3F3F3F"/>
                </a:solidFill>
              </a:rPr>
              <a:t> and </a:t>
            </a:r>
            <a:r>
              <a:rPr i="1" lang="en-IN" sz="1700">
                <a:solidFill>
                  <a:srgbClr val="3F3F3F"/>
                </a:solidFill>
              </a:rPr>
              <a:t>oldbalanceOrg</a:t>
            </a:r>
            <a:r>
              <a:rPr lang="en-IN" sz="1700">
                <a:solidFill>
                  <a:srgbClr val="3F3F3F"/>
                </a:solidFill>
              </a:rPr>
              <a:t> as the key drivers.</a:t>
            </a:r>
            <a:endParaRPr sz="1700">
              <a:solidFill>
                <a:srgbClr val="3F3F3F"/>
              </a:solidFill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700"/>
              <a:buChar char="●"/>
            </a:pPr>
            <a:r>
              <a:rPr b="1" lang="en-IN" sz="1700">
                <a:solidFill>
                  <a:srgbClr val="3F3F3F"/>
                </a:solidFill>
              </a:rPr>
              <a:t>Normal Behavior (True Negative):</a:t>
            </a:r>
            <a:r>
              <a:rPr lang="en-IN" sz="1700">
                <a:solidFill>
                  <a:srgbClr val="3F3F3F"/>
                </a:solidFill>
              </a:rPr>
              <a:t> It assigns a negligible Z-score of 0.42 to a routine payment, confirming its ability to ignore normal activity.</a:t>
            </a:r>
            <a:endParaRPr sz="1700">
              <a:solidFill>
                <a:srgbClr val="3F3F3F"/>
              </a:solidFill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700"/>
              <a:buChar char="●"/>
            </a:pPr>
            <a:r>
              <a:rPr b="1" lang="en-IN" sz="1700">
                <a:solidFill>
                  <a:srgbClr val="3F3F3F"/>
                </a:solidFill>
              </a:rPr>
              <a:t>Overall Performance:</a:t>
            </a:r>
            <a:r>
              <a:rPr lang="en-IN" sz="1700">
                <a:solidFill>
                  <a:srgbClr val="3F3F3F"/>
                </a:solidFill>
              </a:rPr>
              <a:t> The confusion matrix shows a very low false positive rate, with the model correctly identifying over 10,947 legitimate transactions.</a:t>
            </a:r>
            <a:endParaRPr sz="1700">
              <a:solidFill>
                <a:srgbClr val="3F3F3F"/>
              </a:solidFill>
            </a:endParaRPr>
          </a:p>
        </p:txBody>
      </p:sp>
      <p:pic>
        <p:nvPicPr>
          <p:cNvPr id="154" name="Google Shape;154;g36047ae7aaf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9600" y="1297375"/>
            <a:ext cx="3794400" cy="512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047ae7aaf_0_12"/>
          <p:cNvSpPr/>
          <p:nvPr/>
        </p:nvSpPr>
        <p:spPr>
          <a:xfrm>
            <a:off x="298937" y="408585"/>
            <a:ext cx="679800" cy="52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6047ae7aaf_0_12"/>
          <p:cNvSpPr txBox="1"/>
          <p:nvPr/>
        </p:nvSpPr>
        <p:spPr>
          <a:xfrm>
            <a:off x="978721" y="446987"/>
            <a:ext cx="6497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300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Live Demonstration</a:t>
            </a:r>
            <a:endParaRPr b="0" i="0" sz="1700" u="none" cap="none" strike="noStrike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1" name="Google Shape;161;g36047ae7aaf_0_12"/>
          <p:cNvSpPr txBox="1"/>
          <p:nvPr/>
        </p:nvSpPr>
        <p:spPr>
          <a:xfrm>
            <a:off x="214000" y="1457875"/>
            <a:ext cx="8838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047ae7aaf_0_18"/>
          <p:cNvSpPr/>
          <p:nvPr/>
        </p:nvSpPr>
        <p:spPr>
          <a:xfrm>
            <a:off x="298937" y="408585"/>
            <a:ext cx="679800" cy="52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6047ae7aaf_0_18"/>
          <p:cNvSpPr txBox="1"/>
          <p:nvPr/>
        </p:nvSpPr>
        <p:spPr>
          <a:xfrm>
            <a:off x="1090246" y="439362"/>
            <a:ext cx="6497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300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 &amp; Future Work</a:t>
            </a:r>
            <a:endParaRPr b="0" i="0" sz="1700" u="none" cap="none" strike="noStrike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8" name="Google Shape;168;g36047ae7aaf_0_18"/>
          <p:cNvSpPr txBox="1"/>
          <p:nvPr/>
        </p:nvSpPr>
        <p:spPr>
          <a:xfrm>
            <a:off x="214000" y="1457875"/>
            <a:ext cx="8838900" cy="52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900"/>
              <a:buChar char="●"/>
            </a:pPr>
            <a:r>
              <a:rPr b="1" lang="en-IN" sz="1900">
                <a:solidFill>
                  <a:srgbClr val="3F3F3F"/>
                </a:solidFill>
              </a:rPr>
              <a:t>Summary of Achievements:</a:t>
            </a:r>
            <a:endParaRPr b="1" sz="1900">
              <a:solidFill>
                <a:srgbClr val="3F3F3F"/>
              </a:solidFill>
            </a:endParaRPr>
          </a:p>
          <a:p>
            <a:pPr indent="-3492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900"/>
              <a:buChar char="○"/>
            </a:pPr>
            <a:r>
              <a:rPr lang="en-IN" sz="1900">
                <a:solidFill>
                  <a:srgbClr val="3F3F3F"/>
                </a:solidFill>
              </a:rPr>
              <a:t>Successfully </a:t>
            </a:r>
            <a:r>
              <a:rPr lang="en-IN" sz="1900">
                <a:solidFill>
                  <a:srgbClr val="3F3F3F"/>
                </a:solidFill>
              </a:rPr>
              <a:t>delivered</a:t>
            </a:r>
            <a:r>
              <a:rPr lang="en-IN" sz="1900">
                <a:solidFill>
                  <a:srgbClr val="3F3F3F"/>
                </a:solidFill>
              </a:rPr>
              <a:t> a complete, end-to-end MVP for real-time, unsupervised risk profiling, meeting all 6 initial project objectives.</a:t>
            </a:r>
            <a:endParaRPr sz="1900">
              <a:solidFill>
                <a:srgbClr val="3F3F3F"/>
              </a:solidFill>
            </a:endParaRPr>
          </a:p>
          <a:p>
            <a:pPr indent="-3492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900"/>
              <a:buChar char="○"/>
            </a:pPr>
            <a:r>
              <a:rPr lang="en-IN" sz="1900">
                <a:solidFill>
                  <a:srgbClr val="3F3F3F"/>
                </a:solidFill>
              </a:rPr>
              <a:t>The final system is </a:t>
            </a:r>
            <a:r>
              <a:rPr b="1" lang="en-IN" sz="1900">
                <a:solidFill>
                  <a:srgbClr val="3F3F3F"/>
                </a:solidFill>
              </a:rPr>
              <a:t>Scalable, Unsupervised, Adaptive, and Explainable,</a:t>
            </a:r>
            <a:r>
              <a:rPr lang="en-IN" sz="1900">
                <a:solidFill>
                  <a:srgbClr val="3F3F3F"/>
                </a:solidFill>
              </a:rPr>
              <a:t> addressing the core limitations of traditional systems.</a:t>
            </a:r>
            <a:endParaRPr sz="1900">
              <a:solidFill>
                <a:srgbClr val="3F3F3F"/>
              </a:solidFill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900"/>
              <a:buChar char="●"/>
            </a:pPr>
            <a:r>
              <a:rPr b="1" lang="en-IN" sz="1900">
                <a:solidFill>
                  <a:srgbClr val="3F3F3F"/>
                </a:solidFill>
              </a:rPr>
              <a:t>Future Enhancements:</a:t>
            </a:r>
            <a:endParaRPr b="1" sz="1900">
              <a:solidFill>
                <a:srgbClr val="3F3F3F"/>
              </a:solidFill>
            </a:endParaRPr>
          </a:p>
          <a:p>
            <a:pPr indent="-3492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900"/>
              <a:buChar char="○"/>
            </a:pPr>
            <a:r>
              <a:rPr b="1" lang="en-IN" sz="1900">
                <a:solidFill>
                  <a:srgbClr val="3F3F3F"/>
                </a:solidFill>
              </a:rPr>
              <a:t>Advanced Drift Handling:</a:t>
            </a:r>
            <a:r>
              <a:rPr lang="en-IN" sz="1900">
                <a:solidFill>
                  <a:srgbClr val="3F3F3F"/>
                </a:solidFill>
              </a:rPr>
              <a:t> Implement an online learning strategy to automatically fine-tune the autoencoder model after a drift event is detected.</a:t>
            </a:r>
            <a:endParaRPr sz="1900">
              <a:solidFill>
                <a:srgbClr val="3F3F3F"/>
              </a:solidFill>
            </a:endParaRPr>
          </a:p>
          <a:p>
            <a:pPr indent="-3492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900"/>
              <a:buChar char="○"/>
            </a:pPr>
            <a:r>
              <a:rPr b="1" lang="en-IN" sz="1900">
                <a:solidFill>
                  <a:srgbClr val="3F3F3F"/>
                </a:solidFill>
              </a:rPr>
              <a:t>Ensemble Modeling:</a:t>
            </a:r>
            <a:r>
              <a:rPr lang="en-IN" sz="1900">
                <a:solidFill>
                  <a:srgbClr val="3F3F3F"/>
                </a:solidFill>
              </a:rPr>
              <a:t> Improve accuracy further by integrating an ensemble of different unsupervised models (e.g. Isolation Forests, One-Class SVMs)</a:t>
            </a:r>
            <a:endParaRPr sz="1900">
              <a:solidFill>
                <a:srgbClr val="3F3F3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047ae7aaf_0_36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6047ae7aaf_0_36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300"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8300"/>
              <a:t>Q &amp; A</a:t>
            </a:r>
            <a:endParaRPr sz="8300"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7166" y="2470637"/>
            <a:ext cx="1749669" cy="174966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"/>
          <p:cNvSpPr txBox="1"/>
          <p:nvPr/>
        </p:nvSpPr>
        <p:spPr>
          <a:xfrm>
            <a:off x="975946" y="4393303"/>
            <a:ext cx="719210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BITS Pilani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3"/>
          <p:cNvCxnSpPr/>
          <p:nvPr/>
        </p:nvCxnSpPr>
        <p:spPr>
          <a:xfrm>
            <a:off x="3679582" y="4844561"/>
            <a:ext cx="1749669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2" name="Google Shape;18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34450" y="0"/>
            <a:ext cx="10351698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1774" y="95889"/>
            <a:ext cx="2153525" cy="50827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"/>
          <p:cNvSpPr txBox="1"/>
          <p:nvPr/>
        </p:nvSpPr>
        <p:spPr>
          <a:xfrm>
            <a:off x="7097381" y="604171"/>
            <a:ext cx="246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rgbClr val="F2F2F2"/>
                </a:solidFill>
                <a:latin typeface="Georgia"/>
                <a:ea typeface="Georgia"/>
                <a:cs typeface="Georgia"/>
                <a:sym typeface="Georgia"/>
              </a:rPr>
              <a:t>BITS PILANI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2023-02-09T04:20:28Z</dcterms:created>
  <dc:creator>BITS</dc:creator>
</cp:coreProperties>
</file>